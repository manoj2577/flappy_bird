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EF56DB-6447-4E9A-8D0B-327B958AB26D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76D98-D61B-4655-9F07-885518B2E1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9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2F0ED-5252-4C0D-3BA2-BA6ECDF907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6E366-4DE2-8E81-1DC3-0AEE197AF6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C19ECA-A45F-0986-41DE-E73470F3D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8A127-BB09-41A4-B1CB-CF09F8E9604A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DC80E-2DDD-1136-4BC6-B4406DBF7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6432E-64B5-4716-F794-CD0C848FE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4283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75F44-3844-F881-3DC9-E55F3A5B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5DD6E-70DC-EC37-F363-8CA0371D4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884CC4-4338-D905-6FCE-6141610CE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9C543-C1A5-4BB5-A80B-9531F5C51CEB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6F4CB-E19E-BF21-CA04-20FBF9E0B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561CA-A7D9-921E-283C-D2D26EC9D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382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F0DB8-4328-6842-4C20-194E16496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C16DD-B055-C373-DB9C-1095E3A7F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8B3A-5B20-B104-4DC9-F294FE85D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ABE-BEC8-4A12-8AF2-3E9347C9F9C5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F6EF1-C2BF-E0B8-5AD2-1E80894A9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C3E5B-79C1-F551-EB78-424972E41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975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FA2CF-D4B2-C0EA-7D8B-9997981DF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EC816-FAB0-61B5-B8A9-3CEEDE3AC6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888030-9606-40F3-F568-569861E67B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26BC2E-18CA-513E-BBD3-A4A6A4682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CA91-FD83-4EFE-93EA-63992C03614F}" type="datetime1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0C424-8EE7-DCF3-92CA-9943CA217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B02771-6578-A3F3-2DE5-957F26935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501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A56EB-15F3-DA5A-FC5F-C8A9854DF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4F55B3-769C-0F68-56E4-09A31651F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9390E3-482E-14E5-E93E-3EFDFCA02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5F7FD4-A0A2-100E-247B-0439DA6A8E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B19785-7F9E-F7E7-9989-FBA2A2436A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9BF4CB-4B11-6795-84C1-91B139428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C43A-13E2-48A2-BAE5-CC73887FC199}" type="datetime1">
              <a:rPr lang="en-US" smtClean="0"/>
              <a:t>11/3/2025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2FCB82-5972-D333-E21C-DF24F6BCF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12211A-324E-9069-32B0-8F509730A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088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0A965-A2B0-80BB-C6BA-CCCFA272A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0A2016-FBBB-4A1F-6F9E-FE6A63DE4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2C5D3-416C-4131-8BC9-E71DA97D5A64}" type="datetime1">
              <a:rPr lang="en-US" smtClean="0"/>
              <a:t>11/3/2025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E845DF-F961-5466-32C3-C6385060C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E057F6-928A-6D9F-4161-C04DEAA83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974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B366D7-6680-4FD6-C029-DC5C0BB23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71593-8386-48B7-BB85-87C0949B2086}" type="datetime1">
              <a:rPr lang="en-US" smtClean="0"/>
              <a:t>11/3/2025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179984-8567-91CB-0310-29A3752B7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2C7A0D-606C-3BF9-8DBE-908D80966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376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684C1-8596-31A1-180D-C7EC5332B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762C2-B7CC-ADA3-9D39-3541B3FE5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35A5F9-7E68-401F-C3BB-09FB74F82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5F73E6-ECB8-2943-41D8-05812D848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0F398-88D3-4D2F-9F7E-785BF8AD0274}" type="datetime1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6B5AF7-95CA-05D2-1119-F667C7B6F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599C23-C916-AE53-9371-42CF3819D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99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9AC56-39A4-2278-722C-617F9F770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FAD1B2-1942-74FB-C400-0DB0C13B90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DA8F38-E9BE-47E4-7662-3CD4AECCB2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28AE0B-2CCA-EDA3-1B80-8F2E1DF84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94C1-07AC-4775-8A4F-70BB05306BF7}" type="datetime1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DB1342-9AFD-57F0-2E90-76ECCEAFA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180B8-E20A-6138-1A1C-1E980CAD4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94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050B6-05B4-E3FE-22C0-B823946C3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34B519-CE0F-EF5E-0363-067F1B0DB1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E2CA70-5E41-1433-D1D4-58B7EECA7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BF149-3A71-4B38-9BDE-7A4D7C7AB1AD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27E013-1DD3-69EC-2DB2-F95CD3491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2FAA7-8459-22BB-DD92-45D2DCDBB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19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65F096-56EB-9C2E-FB81-FEE0A0CAD9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2D9855-6F39-E67A-6BE9-0AC527E972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C113E1-9951-703E-A152-D5CEEC0EE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15CF1-83E4-4056-B983-BD617F30DAFA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63D87-637E-E53B-45EF-5E53B2925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677AB-ED08-1C04-AEC4-B8B3B85B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424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4DB59C-E06D-9064-D0E9-EE878347C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3B2644-B987-EA40-64D1-C253A45B0A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C9483-BDE6-AF2E-5EF6-5FD8C63DA8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FA37CB-3111-4E43-978B-840B0C3E984E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345DA1-9E37-8BE4-5FD8-3086239736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78D0E-8A6B-A368-9312-1F3C29DDBA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527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noj2577/flappy_bird.gi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7.06347" TargetMode="External"/><Relationship Id="rId2" Type="http://schemas.openxmlformats.org/officeDocument/2006/relationships/hyperlink" Target="https://www.andrew.cmu.edu/course/10-703/textbook/BartoSutton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game.org/docs/" TargetMode="External"/><Relationship Id="rId5" Type="http://schemas.openxmlformats.org/officeDocument/2006/relationships/hyperlink" Target="https://gymnasium.farama.org/" TargetMode="External"/><Relationship Id="rId4" Type="http://schemas.openxmlformats.org/officeDocument/2006/relationships/hyperlink" Target="https://stable-baselines3.readthedocs.i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F15FA6-086D-491A-B175-0CA4656FBDCB}"/>
              </a:ext>
            </a:extLst>
          </p:cNvPr>
          <p:cNvPicPr/>
          <p:nvPr/>
        </p:nvPicPr>
        <p:blipFill>
          <a:blip r:embed="rId2" cstate="print"/>
          <a:srcRect l="21229" t="27213" r="21523" b="35253"/>
          <a:stretch>
            <a:fillRect/>
          </a:stretch>
        </p:blipFill>
        <p:spPr bwMode="auto">
          <a:xfrm>
            <a:off x="3256548" y="136525"/>
            <a:ext cx="4776536" cy="834189"/>
          </a:xfrm>
          <a:prstGeom prst="rect">
            <a:avLst/>
          </a:prstGeom>
          <a:ln>
            <a:headEnd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BEE647A-5606-A6E5-93DB-A43A8FC2D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138" y="1251284"/>
            <a:ext cx="10812378" cy="2458586"/>
          </a:xfrm>
        </p:spPr>
        <p:txBody>
          <a:bodyPr>
            <a:noAutofit/>
          </a:bodyPr>
          <a:lstStyle/>
          <a:p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INTELLIGENCE AND DATA SCIENCE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ACADEMIC YEAR 2025 - 2026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SEMESTER III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INTELLIGENCE LABORATORY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GB" sz="24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 PROJECT REVIEW</a:t>
            </a:r>
            <a:r>
              <a:rPr lang="en-GB" sz="24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b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Flappy Bird with AI Agent using Reinforcement Learning</a:t>
            </a:r>
            <a:r>
              <a:rPr lang="en-GB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endParaRPr lang="en-US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39E0012-B3AF-E718-6BBA-5D37629E40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7521979"/>
              </p:ext>
            </p:extLst>
          </p:nvPr>
        </p:nvGraphicFramePr>
        <p:xfrm>
          <a:off x="2098841" y="3845961"/>
          <a:ext cx="8392696" cy="245858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216485">
                  <a:extLst>
                    <a:ext uri="{9D8B030D-6E8A-4147-A177-3AD203B41FA5}">
                      <a16:colId xmlns:a16="http://schemas.microsoft.com/office/drawing/2014/main" val="1924387309"/>
                    </a:ext>
                  </a:extLst>
                </a:gridCol>
                <a:gridCol w="6176211">
                  <a:extLst>
                    <a:ext uri="{9D8B030D-6E8A-4147-A177-3AD203B41FA5}">
                      <a16:colId xmlns:a16="http://schemas.microsoft.com/office/drawing/2014/main" val="471423325"/>
                    </a:ext>
                  </a:extLst>
                </a:gridCol>
              </a:tblGrid>
              <a:tr h="486314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REGISTER NUMBER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2117240070180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1703413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Manoj Kumar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7366592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YEAR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Second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965190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SECTION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4068443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FACULTY IN-CHARGE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/>
                        <a:t>Ms . Phebe Persis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199969"/>
                  </a:ext>
                </a:extLst>
              </a:tr>
            </a:tbl>
          </a:graphicData>
        </a:graphic>
      </p:graphicFrame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6B174A57-15CE-2FFD-86D9-B7E846924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B098-7844-408D-9BB3-6B083FBEE8AA}" type="datetime1">
              <a:rPr lang="en-US" smtClean="0"/>
              <a:t>11/3/2025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4873981-939E-932D-DBE2-6B02CC92B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793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E759A-0732-65F8-ABFC-93E81441B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PROBLEM STATEMENT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17474-C476-1051-3F37-A2159E2BE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8148"/>
            <a:ext cx="10515600" cy="5358816"/>
          </a:xfrm>
        </p:spPr>
        <p:txBody>
          <a:bodyPr>
            <a:normAutofit/>
          </a:bodyPr>
          <a:lstStyle/>
          <a:p>
            <a:r>
              <a:rPr lang="en-US" sz="2400" dirty="0"/>
              <a:t>Artificial Intelligence allows machines to learn and make decisions like humans.</a:t>
            </a:r>
            <a:br>
              <a:rPr lang="en-US" sz="2400" dirty="0"/>
            </a:br>
            <a:r>
              <a:rPr lang="en-US" sz="2400" dirty="0"/>
              <a:t>In this project, we use </a:t>
            </a:r>
            <a:r>
              <a:rPr lang="en-US" sz="2400" b="1" dirty="0"/>
              <a:t>Reinforcement Learning (RL)</a:t>
            </a:r>
            <a:r>
              <a:rPr lang="en-US" sz="2400" dirty="0"/>
              <a:t>, where an agent learns by trial and error using rewards and penalties.</a:t>
            </a:r>
          </a:p>
          <a:p>
            <a:r>
              <a:rPr lang="en-US" sz="2400" dirty="0"/>
              <a:t>The aim is to make an AI agent play the </a:t>
            </a:r>
            <a:r>
              <a:rPr lang="en-US" sz="2400" b="1" dirty="0"/>
              <a:t>Flappy Bird</a:t>
            </a:r>
            <a:r>
              <a:rPr lang="en-US" sz="2400" dirty="0"/>
              <a:t> game automatically.</a:t>
            </a:r>
            <a:br>
              <a:rPr lang="en-US" sz="2400" dirty="0"/>
            </a:br>
            <a:r>
              <a:rPr lang="en-US" sz="2400" dirty="0"/>
              <a:t>It learns when to flap to avoid pipes and increase its score.</a:t>
            </a:r>
          </a:p>
          <a:p>
            <a:r>
              <a:rPr lang="en-US" sz="2400" dirty="0"/>
              <a:t>This problem is important because it shows how a computer can learn by itself without manual programming.</a:t>
            </a:r>
            <a:br>
              <a:rPr lang="en-US" sz="2400" dirty="0"/>
            </a:br>
            <a:r>
              <a:rPr lang="en-US" sz="2400" dirty="0"/>
              <a:t>We use the </a:t>
            </a:r>
            <a:r>
              <a:rPr lang="en-US" sz="2400" b="1" dirty="0"/>
              <a:t>PPO (Proximal Policy Optimization)</a:t>
            </a:r>
            <a:r>
              <a:rPr lang="en-US" sz="2400" dirty="0"/>
              <a:t> algorithm to train the agent for better gameplay.</a:t>
            </a:r>
          </a:p>
          <a:p>
            <a:r>
              <a:rPr lang="en-US" sz="2400" b="1" dirty="0"/>
              <a:t>Expected Result:</a:t>
            </a:r>
            <a:br>
              <a:rPr lang="en-US" sz="2400" dirty="0"/>
            </a:br>
            <a:r>
              <a:rPr lang="en-US" sz="2400" dirty="0"/>
              <a:t>The AI will learn the correct flapping timing and gradually achieve higher scores.</a:t>
            </a:r>
          </a:p>
          <a:p>
            <a:r>
              <a:rPr lang="en-US" sz="2400" b="1" dirty="0"/>
              <a:t>Possibilities:</a:t>
            </a:r>
            <a:br>
              <a:rPr lang="en-US" sz="2400" dirty="0"/>
            </a:br>
            <a:r>
              <a:rPr lang="en-US" sz="2400" dirty="0"/>
              <a:t>This idea can be used in real-life systems like robots, drones, or self-driving vehicles that learn from experience.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FF5BCC-B36E-DFE5-103F-31FA12632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253399-F526-B4B1-D444-32B3A164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614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CC068-5F54-97E8-2F1C-0538F1126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2B1AF-B7ED-6DDA-888D-9BCAF08EA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THEORETICAL BACKGROUND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7243E-1300-82BE-9968-6837E801A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8148"/>
            <a:ext cx="10515600" cy="5358816"/>
          </a:xfrm>
        </p:spPr>
        <p:txBody>
          <a:bodyPr>
            <a:normAutofit/>
          </a:bodyPr>
          <a:lstStyle/>
          <a:p>
            <a:r>
              <a:rPr lang="en-US" dirty="0"/>
              <a:t>The game is modeled as a </a:t>
            </a:r>
            <a:r>
              <a:rPr lang="en-US" b="1" dirty="0"/>
              <a:t>Markov Decision Process (MDP)</a:t>
            </a:r>
            <a:r>
              <a:rPr lang="en-US" dirty="0"/>
              <a:t>.</a:t>
            </a:r>
          </a:p>
          <a:p>
            <a:r>
              <a:rPr lang="en-US" b="1" dirty="0"/>
              <a:t>State:</a:t>
            </a:r>
            <a:r>
              <a:rPr lang="en-US" dirty="0"/>
              <a:t> Bird’s position, speed, and distance from the next pipe.</a:t>
            </a:r>
          </a:p>
          <a:p>
            <a:r>
              <a:rPr lang="en-US" b="1" dirty="0"/>
              <a:t>Action:</a:t>
            </a:r>
            <a:r>
              <a:rPr lang="en-US" dirty="0"/>
              <a:t> Whether to </a:t>
            </a:r>
            <a:r>
              <a:rPr lang="en-US" b="1" dirty="0"/>
              <a:t>flap</a:t>
            </a:r>
            <a:r>
              <a:rPr lang="en-US" dirty="0"/>
              <a:t> or </a:t>
            </a:r>
            <a:r>
              <a:rPr lang="en-US" b="1" dirty="0"/>
              <a:t>do nothing</a:t>
            </a:r>
            <a:r>
              <a:rPr lang="en-US" dirty="0"/>
              <a:t>.</a:t>
            </a:r>
          </a:p>
          <a:p>
            <a:r>
              <a:rPr lang="en-US" b="1" dirty="0"/>
              <a:t>Reward:</a:t>
            </a:r>
            <a:r>
              <a:rPr lang="en-US" dirty="0"/>
              <a:t> +1 for passing a pipe, −1 for hitting one.</a:t>
            </a:r>
          </a:p>
          <a:p>
            <a:r>
              <a:rPr lang="en-US" dirty="0"/>
              <a:t>The algorithm used is </a:t>
            </a:r>
            <a:r>
              <a:rPr lang="en-US" b="1" dirty="0"/>
              <a:t>Proximal Policy Optimization (PPO)</a:t>
            </a:r>
            <a:r>
              <a:rPr lang="en-US" dirty="0"/>
              <a:t> —</a:t>
            </a:r>
            <a:br>
              <a:rPr lang="en-US" dirty="0"/>
            </a:br>
            <a:r>
              <a:rPr lang="en-US" dirty="0"/>
              <a:t>a stable and efficient RL method for training game agents.</a:t>
            </a:r>
          </a:p>
          <a:p>
            <a:pPr marL="0" indent="0">
              <a:buNone/>
            </a:pPr>
            <a:r>
              <a:rPr lang="en-US" dirty="0"/>
              <a:t>  🧩 </a:t>
            </a:r>
            <a:r>
              <a:rPr lang="en-US" i="1" dirty="0"/>
              <a:t>Idea:</a:t>
            </a:r>
            <a:r>
              <a:rPr lang="en-US" dirty="0"/>
              <a:t> The AI learns the right time to flap to stay alive longer.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F593AB-ABA6-D8E8-42D9-A38FB7B4D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AE40CC-B05F-6325-A926-99504CD4A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692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34F6B-2294-8100-6428-71DD4A23A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76350-5987-57CB-5096-A77DCA200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IMPLEMENTATION AND CODE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9904C-7E5E-5862-ACA4-167CDBC504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/>
          <a:lstStyle/>
          <a:p>
            <a:r>
              <a:rPr lang="en-GB" dirty="0"/>
              <a:t>Link to code in Git-hub Repository</a:t>
            </a:r>
          </a:p>
          <a:p>
            <a:endParaRPr lang="en-GB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BC0E82-F7C5-E4B3-8BB9-1583AC63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75014-201C-1110-C957-46A30A1C2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4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CE64048-76D1-E559-97A6-1E9DA8CC9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862723"/>
              </p:ext>
            </p:extLst>
          </p:nvPr>
        </p:nvGraphicFramePr>
        <p:xfrm>
          <a:off x="1854200" y="2205222"/>
          <a:ext cx="8128000" cy="14782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0520043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2519598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List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Git-hub Repository Links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9369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Implementation of Code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6202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Word Document Report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1050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PPT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2417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9586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55069-71B1-83F0-E5F5-B02F8F57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58887-D4AD-6383-79D6-F528D3482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BACE5-322B-3F55-2CA9-8E1D41170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D1AF6B-7EFE-60E0-2350-AE083D01A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5</a:t>
            </a:fld>
            <a:endParaRPr lang="en-US"/>
          </a:p>
        </p:txBody>
      </p:sp>
      <p:pic>
        <p:nvPicPr>
          <p:cNvPr id="17" name="Picture 16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27405C18-D54A-4018-2A19-67AF19AE2F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0706" y="1329732"/>
            <a:ext cx="4317475" cy="4861338"/>
          </a:xfrm>
          <a:prstGeom prst="rect">
            <a:avLst/>
          </a:prstGeom>
        </p:spPr>
      </p:pic>
      <p:pic>
        <p:nvPicPr>
          <p:cNvPr id="19" name="Picture 18" descr="A blue and green rectangle with a black and blue object on it&#10;&#10;AI-generated content may be incorrect.">
            <a:extLst>
              <a:ext uri="{FF2B5EF4-FFF2-40B4-BE49-F238E27FC236}">
                <a16:creationId xmlns:a16="http://schemas.microsoft.com/office/drawing/2014/main" id="{1884CF78-714F-54C9-A4C6-8ABCAC5F4E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57" y="1315625"/>
            <a:ext cx="3829764" cy="4889552"/>
          </a:xfrm>
          <a:prstGeom prst="rect">
            <a:avLst/>
          </a:prstGeom>
        </p:spPr>
      </p:pic>
      <p:pic>
        <p:nvPicPr>
          <p:cNvPr id="23" name="Content Placeholder 22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B53871D6-AF7E-B02B-3901-083FEC808C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5066" y="1329732"/>
            <a:ext cx="3684681" cy="4861338"/>
          </a:xfrm>
        </p:spPr>
      </p:pic>
    </p:spTree>
    <p:extLst>
      <p:ext uri="{BB962C8B-B14F-4D97-AF65-F5344CB8AC3E}">
        <p14:creationId xmlns:p14="http://schemas.microsoft.com/office/powerpoint/2010/main" val="2805269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63ECA-B59E-8742-1165-9911D2A4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B2EF6-B936-B9EB-24E4-C84A06240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409AF-1BD6-CFDC-B172-AD3D38536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>
            <a:normAutofit fontScale="70000" lnSpcReduction="20000"/>
          </a:bodyPr>
          <a:lstStyle/>
          <a:p>
            <a:pPr lvl="0"/>
            <a:r>
              <a:rPr lang="en-US" dirty="0"/>
              <a:t>After training with the </a:t>
            </a:r>
            <a:r>
              <a:rPr lang="en-US" b="1" dirty="0"/>
              <a:t>PPO algorithm</a:t>
            </a:r>
            <a:r>
              <a:rPr lang="en-US" dirty="0"/>
              <a:t>, the AI agent plays the </a:t>
            </a:r>
            <a:r>
              <a:rPr lang="en-US" b="1" dirty="0"/>
              <a:t>Flappy Bird</a:t>
            </a:r>
            <a:r>
              <a:rPr lang="en-US" dirty="0"/>
              <a:t> game automatically.</a:t>
            </a:r>
            <a:br>
              <a:rPr lang="en-US" dirty="0"/>
            </a:br>
            <a:r>
              <a:rPr lang="en-US" dirty="0"/>
              <a:t>It learns when to flap and when to stay still to avoid pipes.</a:t>
            </a:r>
            <a:br>
              <a:rPr lang="en-US" dirty="0"/>
            </a:br>
            <a:r>
              <a:rPr lang="en-US" dirty="0"/>
              <a:t>The game shows the bird, pipes, and live score on the screen.</a:t>
            </a:r>
            <a:br>
              <a:rPr lang="en-US" dirty="0"/>
            </a:br>
            <a:r>
              <a:rPr lang="en-US" dirty="0"/>
              <a:t>When the bird crashes, the game restarts and the agent continues learning</a:t>
            </a:r>
          </a:p>
          <a:p>
            <a:r>
              <a:rPr lang="en-US" b="1" dirty="0"/>
              <a:t>Results</a:t>
            </a:r>
          </a:p>
          <a:p>
            <a:r>
              <a:rPr lang="en-US" dirty="0"/>
              <a:t>The AI gradually improves its gameplay after training.</a:t>
            </a:r>
          </a:p>
          <a:p>
            <a:r>
              <a:rPr lang="en-US" dirty="0"/>
              <a:t>It learns the correct timing and survives longer.</a:t>
            </a:r>
          </a:p>
          <a:p>
            <a:r>
              <a:rPr lang="en-US" dirty="0"/>
              <a:t>The final model achieves scores above </a:t>
            </a:r>
            <a:r>
              <a:rPr lang="en-US" b="1" dirty="0"/>
              <a:t>20+</a:t>
            </a:r>
            <a:r>
              <a:rPr lang="en-US" dirty="0"/>
              <a:t> consistently.</a:t>
            </a:r>
          </a:p>
          <a:p>
            <a:r>
              <a:rPr lang="en-US" dirty="0"/>
              <a:t>The agent behaves almost like a human player.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Future Enhancements</a:t>
            </a:r>
          </a:p>
          <a:p>
            <a:r>
              <a:rPr lang="en-US" dirty="0"/>
              <a:t>Try other algorithms like </a:t>
            </a:r>
            <a:r>
              <a:rPr lang="en-US" b="1" dirty="0"/>
              <a:t>DQN</a:t>
            </a:r>
            <a:r>
              <a:rPr lang="en-US" dirty="0"/>
              <a:t> or </a:t>
            </a:r>
            <a:r>
              <a:rPr lang="en-US" b="1" dirty="0"/>
              <a:t>A3C</a:t>
            </a:r>
            <a:r>
              <a:rPr lang="en-US" dirty="0"/>
              <a:t>.</a:t>
            </a:r>
          </a:p>
          <a:p>
            <a:r>
              <a:rPr lang="en-US" dirty="0"/>
              <a:t>Use </a:t>
            </a:r>
            <a:r>
              <a:rPr lang="en-US" b="1" dirty="0"/>
              <a:t>CNNs</a:t>
            </a:r>
            <a:r>
              <a:rPr lang="en-US" dirty="0"/>
              <a:t> for visual-based learning.</a:t>
            </a:r>
          </a:p>
          <a:p>
            <a:r>
              <a:rPr lang="en-US" dirty="0"/>
              <a:t>Add more levels, obstacles, and animations.</a:t>
            </a:r>
          </a:p>
          <a:p>
            <a:r>
              <a:rPr lang="en-US" dirty="0"/>
              <a:t>Improve visuals and sound effects for a better game experience.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773938-5370-329C-27AB-D82ECB9D7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83B3C-8735-B8FC-8D50-B919B3471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363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EA9EE-5679-A557-E7BF-0A904D097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F6077-2697-7116-5A2C-99B8054B7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REFERENCES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B1971-AF7F-80EE-26ED-EA8A7E8C7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7326"/>
            <a:ext cx="11951368" cy="4909637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US" dirty="0"/>
              <a:t>Sutton, R. S., &amp; Barto, A. G. (2018). </a:t>
            </a:r>
            <a:r>
              <a:rPr lang="en-US" i="1" dirty="0"/>
              <a:t>Reinforcement Learning: An Introduction (2nd Edition)</a:t>
            </a:r>
            <a:r>
              <a:rPr lang="en-US" dirty="0"/>
              <a:t>. MIT Press.</a:t>
            </a:r>
          </a:p>
          <a:p>
            <a:pPr marL="0" lvl="0" indent="0">
              <a:buNone/>
            </a:pPr>
            <a:r>
              <a:rPr lang="en-US" dirty="0">
                <a:hlinkClick r:id="rId2"/>
              </a:rPr>
              <a:t>https://www.andrew.cmu.edu/course/10-703/textbook/BartoSutton.pdf</a:t>
            </a:r>
            <a:endParaRPr lang="en-US" dirty="0"/>
          </a:p>
          <a:p>
            <a:pPr lvl="0"/>
            <a:r>
              <a:rPr lang="en-IN" dirty="0"/>
              <a:t>Schulman, J., Wolski, F., Dhariwal, P., Radford, A., &amp; Klimov, O. (2017). </a:t>
            </a:r>
            <a:r>
              <a:rPr lang="en-IN" i="1" dirty="0"/>
              <a:t>Proximal Policy Optimization Algorithms.</a:t>
            </a:r>
          </a:p>
          <a:p>
            <a:pPr lvl="0"/>
            <a:r>
              <a:rPr lang="en-IN" dirty="0" err="1"/>
              <a:t>arXiv</a:t>
            </a:r>
            <a:r>
              <a:rPr lang="en-IN" dirty="0"/>
              <a:t> preprint </a:t>
            </a:r>
            <a:r>
              <a:rPr lang="en-IN" dirty="0">
                <a:hlinkClick r:id="rId3"/>
              </a:rPr>
              <a:t>https://arxiv.org/abs/1707.06347</a:t>
            </a:r>
            <a:endParaRPr lang="en-IN" dirty="0"/>
          </a:p>
          <a:p>
            <a:pPr lvl="0"/>
            <a:r>
              <a:rPr lang="en-US" b="1" dirty="0"/>
              <a:t>Stable-Baselines3 Documentation</a:t>
            </a:r>
            <a:r>
              <a:rPr lang="en-US" dirty="0"/>
              <a:t>, </a:t>
            </a:r>
            <a:r>
              <a:rPr lang="en-US" i="1" dirty="0"/>
              <a:t>Open Source Reinforcement Learning Library for </a:t>
            </a:r>
            <a:r>
              <a:rPr lang="en-US" i="1" dirty="0" err="1"/>
              <a:t>PyTorch</a:t>
            </a:r>
            <a:r>
              <a:rPr lang="en-US" i="1" dirty="0"/>
              <a:t>.   </a:t>
            </a:r>
            <a:r>
              <a:rPr lang="en-US" dirty="0">
                <a:hlinkClick r:id="rId4"/>
              </a:rPr>
              <a:t>https://stable-baselines3.readthedocs.io</a:t>
            </a:r>
            <a:endParaRPr lang="en-US" dirty="0"/>
          </a:p>
          <a:p>
            <a:pPr lvl="0"/>
            <a:r>
              <a:rPr lang="en-US" b="1" dirty="0"/>
              <a:t>Gymnasium (formerly OpenAI Gym)</a:t>
            </a:r>
            <a:r>
              <a:rPr lang="en-US" dirty="0"/>
              <a:t> – Reinforcement Learning Environment Toolkit. </a:t>
            </a:r>
            <a:r>
              <a:rPr lang="en-US" dirty="0">
                <a:hlinkClick r:id="rId5"/>
              </a:rPr>
              <a:t>https://gymnasium.farama.org/</a:t>
            </a:r>
            <a:endParaRPr lang="en-US" dirty="0"/>
          </a:p>
          <a:p>
            <a:pPr lvl="0"/>
            <a:r>
              <a:rPr lang="en-US" b="1" dirty="0" err="1"/>
              <a:t>Pygame</a:t>
            </a:r>
            <a:r>
              <a:rPr lang="en-US" b="1" dirty="0"/>
              <a:t> Official Documentation</a:t>
            </a:r>
            <a:r>
              <a:rPr lang="en-US" dirty="0"/>
              <a:t> – </a:t>
            </a:r>
            <a:r>
              <a:rPr lang="en-US" i="1" dirty="0"/>
              <a:t>Game Development Library for Python</a:t>
            </a:r>
            <a:r>
              <a:rPr lang="en-US" dirty="0"/>
              <a:t>.</a:t>
            </a:r>
          </a:p>
          <a:p>
            <a:pPr marL="0" lvl="0" indent="0">
              <a:buNone/>
            </a:pPr>
            <a:r>
              <a:rPr lang="en-US" dirty="0"/>
              <a:t>   </a:t>
            </a:r>
            <a:r>
              <a:rPr lang="en-US" dirty="0">
                <a:hlinkClick r:id="rId6"/>
              </a:rPr>
              <a:t>https://www.pygame.org/docs/</a:t>
            </a:r>
            <a:endParaRPr lang="en-US" dirty="0"/>
          </a:p>
          <a:p>
            <a:pPr marL="0" lv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721BC-42E2-4822-3086-5AF81F1A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D8BC28-15FA-0C88-32FB-88458DEBB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607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1139</TotalTime>
  <Words>624</Words>
  <Application>Microsoft Office PowerPoint</Application>
  <PresentationFormat>Widescreen</PresentationFormat>
  <Paragraphs>70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Office Theme</vt:lpstr>
      <vt:lpstr>DEPARTMENT OF ARTIFICIAL INTELLIGENCE AND DATA SCIENCE ACADEMIC YEAR 2025 - 2026 SEMESTER III ARTIFICIAL INTELLIGENCE LABORATORY  MINI PROJECT REVIEW   &lt;Flappy Bird with AI Agent using Reinforcement Learning&gt;</vt:lpstr>
      <vt:lpstr>PROBLEM STATEMENT</vt:lpstr>
      <vt:lpstr>THEORETICAL BACKGROUND</vt:lpstr>
      <vt:lpstr>IMPLEMENTATION AND CODE</vt:lpstr>
      <vt:lpstr>OUTPUT AND RESULTS</vt:lpstr>
      <vt:lpstr>OUTPUT AND RESULTS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SANKAR GANESH K</dc:creator>
  <cp:lastModifiedBy>Manoj kumar N</cp:lastModifiedBy>
  <cp:revision>8</cp:revision>
  <dcterms:created xsi:type="dcterms:W3CDTF">2025-10-18T08:57:34Z</dcterms:created>
  <dcterms:modified xsi:type="dcterms:W3CDTF">2025-11-03T01:11:09Z</dcterms:modified>
</cp:coreProperties>
</file>